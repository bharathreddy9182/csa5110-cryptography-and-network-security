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Frequency %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1B2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E</c:v>
                  </c:pt>
                  <c:pt idx="1">
                    <c:v>T</c:v>
                  </c:pt>
                  <c:pt idx="2">
                    <c:v>A</c:v>
                  </c:pt>
                  <c:pt idx="3">
                    <c:v>O</c:v>
                  </c:pt>
                  <c:pt idx="4">
                    <c:v>I</c:v>
                  </c:pt>
                  <c:pt idx="5">
                    <c:v>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12.7</c:v>
                </c:pt>
                <c:pt idx="1">
                  <c:v>9.1</c:v>
                </c:pt>
                <c:pt idx="2">
                  <c:v>8.2</c:v>
                </c:pt>
                <c:pt idx="3">
                  <c:v>7.5</c:v>
                </c:pt>
                <c:pt idx="4">
                  <c:v>7</c:v>
                </c:pt>
                <c:pt idx="5">
                  <c:v>6.7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B1B2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1B2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Wrap-up slide: summarize the progression from Caesar's single-alphabet shift to Vigenere's keyed multi-alphabet approach, and note that this evolutionary pressure (cryptanalysis driving new cipher design) continues into modern cryptography.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4114800" cy="4114800"/>
          </a:xfrm>
          <a:prstGeom prst="ellipse">
            <a:avLst/>
          </a:prstGeom>
          <a:solidFill>
            <a:srgbClr val="24316F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24316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196596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Caesar to Vigenère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3063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Evolution of Substitution Ciphers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3886200"/>
            <a:ext cx="201168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11480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AF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history of how simple letter-shifting evolved into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AF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keyed, multi-alphabet encryption.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Caesar Cipher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earliest known substitution cipher, c. 58 BCE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50292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letter is replaced by the letter a fixed number of positions down the alphabet (the “shift”)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 Julius Caesar to protect military messages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25 possible keys — trivially broken by brute force</a:t>
            </a:r>
            <a:endParaRPr lang="en-US" sz="1400" dirty="0"/>
          </a:p>
          <a:p>
            <a:pPr marL="342900" indent="-342900">
              <a:lnSpc>
                <a:spcPct val="115000"/>
              </a:lnSpc>
              <a:buSzPct val="100000"/>
              <a:buChar char="●"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alphabet mapping means letter frequency is preserved, exposing it to statistical attack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35040" y="1965960"/>
            <a:ext cx="5577840" cy="3383280"/>
          </a:xfrm>
          <a:prstGeom prst="roundRect">
            <a:avLst>
              <a:gd name="adj" fmla="val 3243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25400" dir="5400000">
              <a:srgbClr val="1E2761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355080" y="21945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 ·  SHIFT OF 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55080" y="26974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355080" y="32461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plaintext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92240" y="3703320"/>
            <a:ext cx="0" cy="50292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36576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shift each letter by 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355080" y="39776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KHOOR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355080" y="4526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ciphertext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355080" y="49377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4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= (P + 3) mod 26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Shared Weakness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every monoalphabetic cipher eventually falls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34440" y="196596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letter, one substitute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34440" y="233172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Caesar and general monoalphabetic ciphers map each plaintext letter to exactly one ciphertext letter, for the whole message.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1546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34440" y="310896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patterns leak through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34440" y="347472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Letters like E and T stay the most frequent symbols in the ciphertext — the disguise never changes.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34440" y="425196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analysis breaks it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34440" y="461772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symbol frequency to known language statistics reveals the mapping, often within minutes.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89520" y="2011680"/>
            <a:ext cx="402336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818120" y="21945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LETTER FREQUENCY</a:t>
            </a:r>
            <a:endParaRPr lang="en-US" sz="10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7726680" y="2560320"/>
          <a:ext cx="37490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567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Vigenère Cipher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polyalphabetic breakthrough, 16th century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50292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 repeating keyword to select a different shift for every letter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plaintext letter can encrypt to different ciphertext letters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Flattens letter-frequency patterns, defeating simple frequency analysis</a:t>
            </a:r>
            <a:endParaRPr lang="en-US" sz="1400" dirty="0"/>
          </a:p>
          <a:p>
            <a:pPr marL="342900" indent="-342900">
              <a:lnSpc>
                <a:spcPct val="115000"/>
              </a:lnSpc>
              <a:buSzPct val="100000"/>
              <a:buChar char="●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historically as “le chiffre indéchiffrable” — the indecipherable cipher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35040" y="1965960"/>
            <a:ext cx="5577840" cy="3657600"/>
          </a:xfrm>
          <a:prstGeom prst="roundRect">
            <a:avLst>
              <a:gd name="adj" fmla="val 3000"/>
            </a:avLst>
          </a:prstGeom>
          <a:solidFill>
            <a:srgbClr val="24316F"/>
          </a:solidFill>
          <a:ln/>
        </p:spPr>
      </p:sp>
      <p:sp>
        <p:nvSpPr>
          <p:cNvPr id="7" name="Text 5"/>
          <p:cNvSpPr/>
          <p:nvPr/>
        </p:nvSpPr>
        <p:spPr>
          <a:xfrm>
            <a:off x="6355080" y="21945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 ·  KEYWORD “KEY”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55080" y="27432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Plaintext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818120" y="2743200"/>
            <a:ext cx="64008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 w="12700">
            <a:solidFill>
              <a:srgbClr val="3B4A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18120" y="27432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595360" y="2743200"/>
            <a:ext cx="64008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 w="12700">
            <a:solidFill>
              <a:srgbClr val="3B4A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0" y="27432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372600" y="2743200"/>
            <a:ext cx="64008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 w="12700">
            <a:solidFill>
              <a:srgbClr val="3B4A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72600" y="27432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149840" y="2743200"/>
            <a:ext cx="64008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 w="12700">
            <a:solidFill>
              <a:srgbClr val="3B4A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149840" y="27432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0927080" y="2743200"/>
            <a:ext cx="64008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 w="12700">
            <a:solidFill>
              <a:srgbClr val="3B4A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27080" y="27432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55080" y="33375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818120" y="3337560"/>
            <a:ext cx="64008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 w="12700">
            <a:solidFill>
              <a:srgbClr val="3B4A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18120" y="33375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595360" y="3337560"/>
            <a:ext cx="64008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 w="12700">
            <a:solidFill>
              <a:srgbClr val="3B4A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95360" y="33375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372600" y="3337560"/>
            <a:ext cx="64008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 w="12700">
            <a:solidFill>
              <a:srgbClr val="3B4A8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72600" y="33375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0149840" y="3337560"/>
            <a:ext cx="64008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 w="12700">
            <a:solidFill>
              <a:srgbClr val="3B4A8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149840" y="33375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10927080" y="3337560"/>
            <a:ext cx="64008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 w="12700">
            <a:solidFill>
              <a:srgbClr val="3B4A8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927080" y="33375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355080" y="3931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818120" y="3931920"/>
            <a:ext cx="640080" cy="457200"/>
          </a:xfrm>
          <a:prstGeom prst="roundRect">
            <a:avLst>
              <a:gd name="adj" fmla="val 12000"/>
            </a:avLst>
          </a:prstGeom>
          <a:solidFill>
            <a:srgbClr val="FFD166"/>
          </a:solidFill>
          <a:ln w="12700">
            <a:solidFill>
              <a:srgbClr val="3B4A8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818120" y="39319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8595360" y="3931920"/>
            <a:ext cx="640080" cy="457200"/>
          </a:xfrm>
          <a:prstGeom prst="roundRect">
            <a:avLst>
              <a:gd name="adj" fmla="val 12000"/>
            </a:avLst>
          </a:prstGeom>
          <a:solidFill>
            <a:srgbClr val="FFD166"/>
          </a:solidFill>
          <a:ln w="12700">
            <a:solidFill>
              <a:srgbClr val="3B4A8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595360" y="39319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9372600" y="3931920"/>
            <a:ext cx="640080" cy="457200"/>
          </a:xfrm>
          <a:prstGeom prst="roundRect">
            <a:avLst>
              <a:gd name="adj" fmla="val 12000"/>
            </a:avLst>
          </a:prstGeom>
          <a:solidFill>
            <a:srgbClr val="FFD166"/>
          </a:solidFill>
          <a:ln w="12700">
            <a:solidFill>
              <a:srgbClr val="3B4A8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372600" y="39319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10149840" y="3931920"/>
            <a:ext cx="640080" cy="457200"/>
          </a:xfrm>
          <a:prstGeom prst="roundRect">
            <a:avLst>
              <a:gd name="adj" fmla="val 12000"/>
            </a:avLst>
          </a:prstGeom>
          <a:solidFill>
            <a:srgbClr val="FFD166"/>
          </a:solidFill>
          <a:ln w="12700">
            <a:solidFill>
              <a:srgbClr val="3B4A8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149840" y="39319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10927080" y="3931920"/>
            <a:ext cx="640080" cy="457200"/>
          </a:xfrm>
          <a:prstGeom prst="roundRect">
            <a:avLst>
              <a:gd name="adj" fmla="val 12000"/>
            </a:avLst>
          </a:prstGeom>
          <a:solidFill>
            <a:srgbClr val="FFD166"/>
          </a:solidFill>
          <a:ln w="12700">
            <a:solidFill>
              <a:srgbClr val="3B4A8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927080" y="39319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355080" y="46634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 = (Pi + Ki) mod 26, key repeats to match message length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Evolution at a Glance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single-shift simplicity to keyed, multi-alphabet resilience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7406640" cy="3017520"/>
        </p:xfrm>
        <a:graphic>
          <a:graphicData uri="http://schemas.openxmlformats.org/drawingml/2006/table">
            <a:tbl>
              <a:tblPr/>
              <a:tblGrid>
                <a:gridCol w="2651760"/>
                <a:gridCol w="2377440"/>
                <a:gridCol w="2377440"/>
              </a:tblGrid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Caesar Cipher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Vigenère Cipher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Alphabets used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fixed shift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Multiple, keyword-driven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space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shifts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26^(key length)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Resists frequency analysis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Largely, 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~58 BCE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16th century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229600" y="1554480"/>
            <a:ext cx="3383280" cy="4114800"/>
          </a:xfrm>
          <a:prstGeom prst="roundRect">
            <a:avLst>
              <a:gd name="adj" fmla="val 3243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8503920" y="17830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503920" y="21488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Cryptography evolved because attackers evolved.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503920" y="306324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7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weakness discovered in a cipher directly shaped the design of the next — a pattern that still drives cryptography today.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503920" y="484632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chapter: polyalphabetic analysis → Kasiski examination → modern block ciphers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2026-07-31T04:10:27Z</dcterms:created>
  <dcterms:modified xsi:type="dcterms:W3CDTF">2026-07-31T04:10:27Z</dcterms:modified>
</cp:coreProperties>
</file>